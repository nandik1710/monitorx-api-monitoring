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4"/>
  </p:notesMasterIdLst>
  <p:sldIdLst>
    <p:sldId id="311" r:id="rId2"/>
    <p:sldId id="260" r:id="rId3"/>
    <p:sldId id="313" r:id="rId4"/>
    <p:sldId id="314" r:id="rId5"/>
    <p:sldId id="315" r:id="rId6"/>
    <p:sldId id="316" r:id="rId7"/>
    <p:sldId id="317" r:id="rId8"/>
    <p:sldId id="261" r:id="rId9"/>
    <p:sldId id="318" r:id="rId10"/>
    <p:sldId id="262" r:id="rId11"/>
    <p:sldId id="319" r:id="rId12"/>
    <p:sldId id="320" r:id="rId13"/>
  </p:sldIdLst>
  <p:sldSz cx="9144000" cy="5143500" type="screen16x9"/>
  <p:notesSz cx="6858000" cy="9144000"/>
  <p:embeddedFontLst>
    <p:embeddedFont>
      <p:font typeface="Albert Sans" panose="020B0604020202020204" charset="0"/>
      <p:regular r:id="rId15"/>
      <p:bold r:id="rId16"/>
      <p:italic r:id="rId17"/>
      <p:boldItalic r:id="rId18"/>
    </p:embeddedFont>
    <p:embeddedFont>
      <p:font typeface="Alexandria" panose="020B0604020202020204" charset="-78"/>
      <p:regular r:id="rId19"/>
      <p:bold r:id="rId20"/>
    </p:embeddedFont>
    <p:embeddedFont>
      <p:font typeface="Alexandria Medium" panose="020B0604020202020204" charset="-78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4504EA-A1B9-4BFF-BF19-D0E3E629EAC1}">
  <a:tblStyle styleId="{FC4504EA-A1B9-4BFF-BF19-D0E3E629EA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D47D343-0C84-48D2-8A8E-709CB9193BB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186B6BE8-7ABE-0808-30F8-8E370DE8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A2243007-2F72-89FB-B4BA-EC899B9833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E6FD1D6A-BA85-649D-1417-9B00C9F93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0460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F31B3796-9C0F-5462-779A-76BEF448E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1B80B9EC-AAC3-7127-7672-3F9B97B1DB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2FD235BE-6DD0-8373-6031-37C6D03302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1998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6B6AC1A1-9E62-444C-DCD8-4977BFD97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541C9989-4102-DE9B-A218-34A7BAD257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7CB10C6E-8CA5-03BF-AE0D-1A702C9FC5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6006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2334BE0E-A626-DA14-0B12-095ECBDC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3519B212-E15D-49F0-64DC-64123A45D6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0A6AEB68-5955-2ABE-8D70-C52CCCEF55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8576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DE2A6492-BC7C-EC8E-1B5B-20CDDCF4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F519B18C-1216-3B0C-C5A5-CCF7F401F0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9F8AA0C6-22F1-0AD8-E63F-90886959D1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6569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685abcf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5685abcfc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816A0197-609E-7EA6-1606-711662A2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>
            <a:extLst>
              <a:ext uri="{FF2B5EF4-FFF2-40B4-BE49-F238E27FC236}">
                <a16:creationId xmlns:a16="http://schemas.microsoft.com/office/drawing/2014/main" id="{11A84D03-5FEE-3682-087F-83A1656D97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>
            <a:extLst>
              <a:ext uri="{FF2B5EF4-FFF2-40B4-BE49-F238E27FC236}">
                <a16:creationId xmlns:a16="http://schemas.microsoft.com/office/drawing/2014/main" id="{96BF77C6-8808-24CA-F142-08D5D77516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1185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5DF18832-2884-2B74-5911-05CA22AA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13B1B164-DF8C-50E6-3E2F-C9F2A172E3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EA25563A-D7ED-3616-18BB-EEABC4784D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0223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>
          <a:extLst>
            <a:ext uri="{FF2B5EF4-FFF2-40B4-BE49-F238E27FC236}">
              <a16:creationId xmlns:a16="http://schemas.microsoft.com/office/drawing/2014/main" id="{9FD0927F-A5F0-2CB5-673A-A185AA6B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>
            <a:extLst>
              <a:ext uri="{FF2B5EF4-FFF2-40B4-BE49-F238E27FC236}">
                <a16:creationId xmlns:a16="http://schemas.microsoft.com/office/drawing/2014/main" id="{E6A6F20B-191B-B30B-3D94-4E4531C382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>
            <a:extLst>
              <a:ext uri="{FF2B5EF4-FFF2-40B4-BE49-F238E27FC236}">
                <a16:creationId xmlns:a16="http://schemas.microsoft.com/office/drawing/2014/main" id="{A370D003-15E9-7D28-84E1-B374F632E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931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4" t="30" r="-6" b="-4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/>
          <p:cNvPicPr preferRelativeResize="0"/>
          <p:nvPr/>
        </p:nvPicPr>
        <p:blipFill rotWithShape="1">
          <a:blip r:embed="rId2">
            <a:alphaModFix/>
          </a:blip>
          <a:srcRect l="7044" t="47434" r="-48487" b="-26995"/>
          <a:stretch/>
        </p:blipFill>
        <p:spPr>
          <a:xfrm rot="10800000" flipH="1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4572000" y="3358100"/>
            <a:ext cx="38568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4" t="13471" r="27549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5" r:id="rId4"/>
    <p:sldLayoutId id="2147483658" r:id="rId5"/>
    <p:sldLayoutId id="2147483676" r:id="rId6"/>
    <p:sldLayoutId id="214748367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10;p24">
            <a:extLst>
              <a:ext uri="{FF2B5EF4-FFF2-40B4-BE49-F238E27FC236}">
                <a16:creationId xmlns:a16="http://schemas.microsoft.com/office/drawing/2014/main" id="{6D2E8EA2-F6A4-C601-88BB-1B90AB722D1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679764" y="184658"/>
            <a:ext cx="5784472" cy="20019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" sz="5400" dirty="0"/>
              <a:t>Moniter-X</a:t>
            </a:r>
            <a:br>
              <a:rPr lang="en" sz="5400" dirty="0"/>
            </a:br>
            <a:r>
              <a:rPr lang="en-IN" sz="2400" i="1" dirty="0"/>
              <a:t>Automated API Testing &amp; Monitoring Platform</a:t>
            </a:r>
            <a:br>
              <a:rPr lang="en-IN" sz="2400" i="1" dirty="0"/>
            </a:br>
            <a:r>
              <a:rPr lang="en-IN" sz="2400" b="0" i="1" dirty="0"/>
              <a:t>(</a:t>
            </a:r>
            <a:r>
              <a:rPr lang="en-IN" sz="2000" b="0" i="1" dirty="0"/>
              <a:t>Capstone Project Semester - 7)</a:t>
            </a:r>
            <a:endParaRPr sz="4000" b="0" dirty="0"/>
          </a:p>
        </p:txBody>
      </p:sp>
      <p:sp>
        <p:nvSpPr>
          <p:cNvPr id="7" name="Google Shape;711;p24">
            <a:extLst>
              <a:ext uri="{FF2B5EF4-FFF2-40B4-BE49-F238E27FC236}">
                <a16:creationId xmlns:a16="http://schemas.microsoft.com/office/drawing/2014/main" id="{78655F04-DC2D-77F4-57D2-78C1E90B622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5531" y="2698367"/>
            <a:ext cx="4988651" cy="19588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sz="2000" b="1" i="1" dirty="0"/>
              <a:t>Presented By:</a:t>
            </a:r>
          </a:p>
          <a:p>
            <a:pPr marL="0" lvl="0" indent="0" algn="l"/>
            <a:r>
              <a:rPr lang="en-IN" sz="2000" b="1" i="1" dirty="0"/>
              <a:t>R2142230272 - Nandik Dawar (B2)</a:t>
            </a:r>
          </a:p>
          <a:p>
            <a:pPr marL="0" lvl="0" indent="0" algn="l"/>
            <a:r>
              <a:rPr lang="en-IN" sz="2000" b="1" i="1" dirty="0"/>
              <a:t>R2142230376 - Harsh Kumar Jha (B2)</a:t>
            </a:r>
          </a:p>
          <a:p>
            <a:pPr marL="0" indent="0" algn="l"/>
            <a:r>
              <a:rPr lang="en-IN" sz="2000" b="1" i="1" dirty="0"/>
              <a:t>R2142230585 – Shruti Tripathi (B3)</a:t>
            </a:r>
          </a:p>
          <a:p>
            <a:pPr marL="0" lvl="0" indent="0" algn="l"/>
            <a:endParaRPr lang="en-IN" sz="2000" b="1" i="1" dirty="0"/>
          </a:p>
          <a:p>
            <a:pPr marL="0" lvl="0" indent="0" algn="l"/>
            <a:r>
              <a:rPr lang="en-IN" sz="2000" b="1" i="1" dirty="0"/>
              <a:t>Full Stack AI</a:t>
            </a:r>
          </a:p>
          <a:p>
            <a:pPr marL="0" lvl="0" indent="0" algn="l"/>
            <a:endParaRPr lang="en-IN" sz="2000" b="1" i="1" dirty="0"/>
          </a:p>
          <a:p>
            <a:pPr marL="0" lvl="0" indent="0" algn="l"/>
            <a:endParaRPr lang="en-IN" sz="2000" b="1" i="1" dirty="0"/>
          </a:p>
          <a:p>
            <a:pPr marL="0" lvl="0" indent="0" algn="l"/>
            <a:endParaRPr lang="en-IN" sz="2000" b="1" i="1" dirty="0"/>
          </a:p>
          <a:p>
            <a:pPr marL="0" lvl="0" indent="0" algn="l"/>
            <a:endParaRPr lang="en-IN" b="1" i="1" dirty="0"/>
          </a:p>
          <a:p>
            <a:pPr marL="0" lvl="0" indent="0" algn="l"/>
            <a:endParaRPr b="1" dirty="0"/>
          </a:p>
        </p:txBody>
      </p:sp>
      <p:sp>
        <p:nvSpPr>
          <p:cNvPr id="8" name="Google Shape;711;p24">
            <a:extLst>
              <a:ext uri="{FF2B5EF4-FFF2-40B4-BE49-F238E27FC236}">
                <a16:creationId xmlns:a16="http://schemas.microsoft.com/office/drawing/2014/main" id="{3D447998-286B-1A06-26FB-83936A3B06FD}"/>
              </a:ext>
            </a:extLst>
          </p:cNvPr>
          <p:cNvSpPr txBox="1">
            <a:spLocks/>
          </p:cNvSpPr>
          <p:nvPr/>
        </p:nvSpPr>
        <p:spPr>
          <a:xfrm>
            <a:off x="5393832" y="2698367"/>
            <a:ext cx="4370100" cy="1746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GB" sz="2000" b="1" i="1" dirty="0"/>
              <a:t>Mentored By:</a:t>
            </a:r>
          </a:p>
          <a:p>
            <a:pPr marL="0" indent="0"/>
            <a:r>
              <a:rPr lang="en-GB" sz="2000" b="1" i="1" dirty="0"/>
              <a:t>Dr. Archana </a:t>
            </a:r>
            <a:r>
              <a:rPr lang="en-IN" sz="2000" b="1" i="1" dirty="0"/>
              <a:t>Kumari</a:t>
            </a:r>
            <a:endParaRPr lang="en-GB" sz="2000" b="1" i="1" dirty="0"/>
          </a:p>
          <a:p>
            <a:pPr marL="0" indent="0"/>
            <a:endParaRPr lang="en-GB" sz="2000" b="1" i="1" dirty="0"/>
          </a:p>
          <a:p>
            <a:pPr marL="0" indent="0"/>
            <a:endParaRPr lang="en-GB" sz="2000" b="1" i="1" dirty="0"/>
          </a:p>
          <a:p>
            <a:pPr marL="0" indent="0"/>
            <a:endParaRPr lang="en-GB" sz="2000" b="1" i="1" dirty="0"/>
          </a:p>
          <a:p>
            <a:pPr marL="0" indent="0"/>
            <a:endParaRPr lang="en-GB" b="1" i="1" dirty="0"/>
          </a:p>
          <a:p>
            <a:pPr marL="0" indent="0"/>
            <a:endParaRPr lang="en-GB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3DADB5-B6A1-47B6-6C43-979A41123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3133" y="113646"/>
            <a:ext cx="2650210" cy="745226"/>
          </a:xfrm>
          <a:prstGeom prst="rect">
            <a:avLst/>
          </a:prstGeom>
        </p:spPr>
      </p:pic>
      <p:pic>
        <p:nvPicPr>
          <p:cNvPr id="10" name="Picture 9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F808DDDD-5695-9B3B-1E16-DC22C113D0F0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5287" y="0"/>
            <a:ext cx="696400" cy="1185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371959" y="286719"/>
            <a:ext cx="4300780" cy="9918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Abstract</a:t>
            </a:r>
            <a:endParaRPr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E6C1DE-31E3-DA26-D08B-77AB7458DA5A}"/>
              </a:ext>
            </a:extLst>
          </p:cNvPr>
          <p:cNvSpPr txBox="1"/>
          <p:nvPr/>
        </p:nvSpPr>
        <p:spPr>
          <a:xfrm>
            <a:off x="371959" y="1101907"/>
            <a:ext cx="856281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Modern software applications depend heavily on APIs for communication between services, making API reliability and performance essential.</a:t>
            </a:r>
          </a:p>
          <a:p>
            <a:pPr>
              <a:buNone/>
            </a:pPr>
            <a:endParaRPr lang="en-IN" sz="1600" dirty="0">
              <a:latin typeface="Alexandria" panose="020B0604020202020204" charset="-78"/>
              <a:cs typeface="Alexandria" panose="020B0604020202020204" charset="-78"/>
            </a:endParaRPr>
          </a:p>
          <a:p>
            <a:pPr>
              <a:buNone/>
            </a:pPr>
            <a:r>
              <a:rPr lang="en-IN" sz="1600" b="1" dirty="0">
                <a:latin typeface="Alexandria" panose="020B0604020202020204" charset="-78"/>
                <a:cs typeface="Alexandria" panose="020B0604020202020204" charset="-78"/>
              </a:rPr>
              <a:t>Monitor-X</a:t>
            </a: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 is a full-stack automated API testing and monitoring platform designed to: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Execute API tests automatically.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Schedule tests at predefined intervals.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Monitor API availability, response time, and reliability.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Detect failures and performance degradation.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Maintain historical API performance data.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Provide developers with dashboards, logs, and alerts.</a:t>
            </a:r>
          </a:p>
          <a:p>
            <a:pPr>
              <a:buNone/>
            </a:pPr>
            <a:endParaRPr lang="en-IN" sz="1600" dirty="0">
              <a:latin typeface="Alexandria" panose="020B0604020202020204" charset="-78"/>
              <a:cs typeface="Alexandria" panose="020B0604020202020204" charset="-78"/>
            </a:endParaRPr>
          </a:p>
          <a:p>
            <a:pPr>
              <a:buNone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The platform aims to reduce manual testing effort while improving visibility into API behaviour and system reliability. </a:t>
            </a:r>
          </a:p>
          <a:p>
            <a:pPr>
              <a:buNone/>
            </a:pPr>
            <a:endParaRPr lang="en-IN" sz="1600" dirty="0">
              <a:latin typeface="Alexandria" panose="020B0604020202020204" charset="-78"/>
              <a:cs typeface="Alexandria" panose="020B0604020202020204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086830-8768-BE5B-A421-64F86B92E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"/>
            <a:ext cx="150876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FFE796B9-0CFA-00FE-6CFA-D4CC36482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FAC57915-F7C5-1762-4F93-51A39D65C3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959" y="24774"/>
            <a:ext cx="4300780" cy="9918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Introduction</a:t>
            </a:r>
            <a:endParaRPr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8CC728-E2CD-B240-8430-ABDC15E7FC1E}"/>
              </a:ext>
            </a:extLst>
          </p:cNvPr>
          <p:cNvSpPr txBox="1"/>
          <p:nvPr/>
        </p:nvSpPr>
        <p:spPr>
          <a:xfrm>
            <a:off x="371959" y="840632"/>
            <a:ext cx="856281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APIs are a core component of modern software systems.</a:t>
            </a:r>
          </a:p>
          <a:p>
            <a:pPr lvl="0"/>
            <a:endParaRPr lang="en-IN" sz="1600" dirty="0">
              <a:latin typeface="Alexandria" panose="020B0604020202020204" charset="-78"/>
              <a:cs typeface="Alexandria" panose="020B0604020202020204" charset="-78"/>
            </a:endParaRPr>
          </a:p>
          <a:p>
            <a:pPr lvl="0"/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They enable communication between:</a:t>
            </a:r>
          </a:p>
          <a:p>
            <a:pPr marL="285750" lvl="2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Frontend and backend services</a:t>
            </a:r>
          </a:p>
          <a:p>
            <a:pPr marL="285750" lvl="2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Microservices</a:t>
            </a:r>
          </a:p>
          <a:p>
            <a:pPr marL="285750" lvl="2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Databases</a:t>
            </a:r>
          </a:p>
          <a:p>
            <a:pPr marL="285750" lvl="2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Cloud platforms</a:t>
            </a:r>
          </a:p>
          <a:p>
            <a:pPr marL="285750" lvl="2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External applications</a:t>
            </a:r>
          </a:p>
          <a:p>
            <a:pPr lvl="0"/>
            <a:endParaRPr lang="en-IN" sz="1600" dirty="0">
              <a:latin typeface="Alexandria" panose="020B0604020202020204" charset="-78"/>
              <a:cs typeface="Alexandria" panose="020B0604020202020204" charset="-78"/>
            </a:endParaRPr>
          </a:p>
          <a:p>
            <a:pPr lvl="0"/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API failures can cause downtime, slow responses, incorrect data exchange, and service disruption.</a:t>
            </a:r>
          </a:p>
          <a:p>
            <a:pPr lvl="0"/>
            <a:endParaRPr lang="en-IN" sz="1600" dirty="0">
              <a:latin typeface="Alexandria" panose="020B0604020202020204" charset="-78"/>
              <a:cs typeface="Alexandria" panose="020B0604020202020204" charset="-78"/>
            </a:endParaRPr>
          </a:p>
          <a:p>
            <a:pPr lvl="0"/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Traditional API testing is often manual or limited to CI/CD pipelines.</a:t>
            </a:r>
          </a:p>
          <a:p>
            <a:pPr lvl="0"/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Such approaches provide limited visibility into API behaviour after deployment.</a:t>
            </a:r>
            <a:endParaRPr lang="en-IN" sz="1600" b="1" dirty="0">
              <a:latin typeface="Alexandria" panose="020B0604020202020204" charset="-78"/>
              <a:cs typeface="Alexandria" panose="020B0604020202020204" charset="-78"/>
            </a:endParaRPr>
          </a:p>
          <a:p>
            <a:pPr lvl="0"/>
            <a:r>
              <a:rPr lang="en-IN" sz="1600" b="1" dirty="0">
                <a:latin typeface="Alexandria" panose="020B0604020202020204" charset="-78"/>
                <a:cs typeface="Alexandria" panose="020B0604020202020204" charset="-78"/>
              </a:rPr>
              <a:t>Monitor-X</a:t>
            </a: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 combines automated API testing with continuous monitoring.</a:t>
            </a:r>
          </a:p>
          <a:p>
            <a:pPr lvl="0"/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It also tracks failures and historical performance to improve API reliability and performance.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B9F32-9BB3-4AC8-D945-FB1909F5A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"/>
            <a:ext cx="150876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166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01C4AAE5-F349-8190-24D5-4A3EA80A4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5DEAD621-7EF2-33F1-4C91-706534FB7D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958" y="24774"/>
            <a:ext cx="5365901" cy="9918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Problem Statement</a:t>
            </a:r>
            <a:endParaRPr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16828-B10B-8A5C-46B3-0EF00A6DC6AA}"/>
              </a:ext>
            </a:extLst>
          </p:cNvPr>
          <p:cNvSpPr txBox="1"/>
          <p:nvPr/>
        </p:nvSpPr>
        <p:spPr>
          <a:xfrm>
            <a:off x="371959" y="840632"/>
            <a:ext cx="856281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Existing API testing approaches generally focus on validating APIs during development or within CI pipelines.</a:t>
            </a:r>
          </a:p>
          <a:p>
            <a:endParaRPr lang="en-IN" sz="1600" dirty="0">
              <a:latin typeface="Alexandria" panose="020B0604020202020204" charset="-78"/>
              <a:cs typeface="Alexandria" panose="020B0604020202020204" charset="-78"/>
            </a:endParaRPr>
          </a:p>
          <a:p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Major limitations include: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Repeated manual execution of API tests.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Limited continuous monitoring.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Difficulty identifying performance degradation over time.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Delayed detection of API failures.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Lack of centralized historical API performance data.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Limited actionable insights for developers.</a:t>
            </a:r>
          </a:p>
          <a:p>
            <a:endParaRPr lang="en-IN" sz="1600" dirty="0">
              <a:latin typeface="Alexandria" panose="020B0604020202020204" charset="-78"/>
              <a:cs typeface="Alexandria" panose="020B0604020202020204" charset="-78"/>
            </a:endParaRPr>
          </a:p>
          <a:p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Therefore, there is a need for a system capable of </a:t>
            </a:r>
            <a:r>
              <a:rPr lang="en-IN" sz="1600" b="1" dirty="0">
                <a:latin typeface="Alexandria" panose="020B0604020202020204" charset="-78"/>
                <a:cs typeface="Alexandria" panose="020B0604020202020204" charset="-78"/>
              </a:rPr>
              <a:t>automatically testing APIs while continuously monitoring their health, reliability, and performance</a:t>
            </a: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.</a:t>
            </a:r>
          </a:p>
          <a:p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This is directly aligned with the problem identified in your project description. </a:t>
            </a:r>
          </a:p>
          <a:p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And this slide is worth having because your synopsis evaluation explicitly gives marks for the </a:t>
            </a:r>
            <a:r>
              <a:rPr lang="en-IN" sz="1600" b="1" dirty="0">
                <a:latin typeface="Alexandria" panose="020B0604020202020204" charset="-78"/>
                <a:cs typeface="Alexandria" panose="020B0604020202020204" charset="-78"/>
              </a:rPr>
              <a:t>Problem</a:t>
            </a: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 itself.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0405E7-7688-AA18-652C-50CEF117C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"/>
            <a:ext cx="150876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22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3BA56854-F2E5-E791-FE25-4B52CC6E4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F6662FED-C6D6-4125-7E52-394918C51D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958" y="24774"/>
            <a:ext cx="5365901" cy="9918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Objective</a:t>
            </a:r>
            <a:endParaRPr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36BC06-76B6-80F0-B373-27B9F3EB4ED6}"/>
              </a:ext>
            </a:extLst>
          </p:cNvPr>
          <p:cNvSpPr txBox="1"/>
          <p:nvPr/>
        </p:nvSpPr>
        <p:spPr>
          <a:xfrm>
            <a:off x="371959" y="840632"/>
            <a:ext cx="856281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Alexandria" panose="020B0604020202020204" charset="-78"/>
                <a:cs typeface="Alexandria" panose="020B0604020202020204" charset="-78"/>
              </a:rPr>
              <a:t>Primary Objective</a:t>
            </a:r>
            <a:endParaRPr lang="en-IN" sz="160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To develop a full-stack platform capable of automating API testing and continuously monitoring API health and performance.</a:t>
            </a:r>
          </a:p>
          <a:p>
            <a:endParaRPr lang="en-IN" sz="1600" dirty="0">
              <a:latin typeface="Alexandria" panose="020B0604020202020204" charset="-78"/>
              <a:cs typeface="Alexandria" panose="020B0604020202020204" charset="-78"/>
            </a:endParaRPr>
          </a:p>
          <a:p>
            <a:r>
              <a:rPr lang="en-IN" sz="1600" b="1" dirty="0">
                <a:latin typeface="Alexandria" panose="020B0604020202020204" charset="-78"/>
                <a:cs typeface="Alexandria" panose="020B0604020202020204" charset="-78"/>
              </a:rPr>
              <a:t>Specific Objectives</a:t>
            </a:r>
            <a:endParaRPr lang="en-IN" sz="1600" dirty="0">
              <a:latin typeface="Alexandria" panose="020B0604020202020204" charset="-78"/>
              <a:cs typeface="Alexandria" panose="020B0604020202020204" charset="-78"/>
            </a:endParaRP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Automate execution of user-defined API test cases.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Schedule API tests at predefined intervals.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Monitor API availability and uptime.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Measure API response time and performance.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Detect failed API requests automatically.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Maintain detailed failure logs.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Store historical test and performance data.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Provide real-time monitoring dashboards.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Generate alerts when API failures occur.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600" dirty="0">
                <a:latin typeface="Alexandria" panose="020B0604020202020204" charset="-78"/>
                <a:cs typeface="Alexandria" panose="020B0604020202020204" charset="-78"/>
              </a:rPr>
              <a:t>Reduce dependence on repetitive manual testing.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832E91-0E33-3366-C657-926A3FFD9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"/>
            <a:ext cx="150876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40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C7CE5251-74CA-7F87-758B-472C97362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>
            <a:extLst>
              <a:ext uri="{FF2B5EF4-FFF2-40B4-BE49-F238E27FC236}">
                <a16:creationId xmlns:a16="http://schemas.microsoft.com/office/drawing/2014/main" id="{62F98AC4-4FC2-F990-A591-24B8DF2D72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958" y="154314"/>
            <a:ext cx="5365901" cy="9918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Methodology</a:t>
            </a:r>
            <a:endParaRPr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B0F22D-0845-3E37-C7F5-FEAD4E466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"/>
            <a:ext cx="1508760" cy="10058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1B68C4-4155-FDB8-6498-FB8EFE218C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250" b="12416"/>
          <a:stretch>
            <a:fillRect/>
          </a:stretch>
        </p:blipFill>
        <p:spPr>
          <a:xfrm>
            <a:off x="243840" y="1635454"/>
            <a:ext cx="8656320" cy="26546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7295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77032B1F-E421-D372-588D-DEAFE15BC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81EA1E-8FAB-BD43-6060-5DC92F0CE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F88D6C-9CA8-4E06-9302-AE6836082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"/>
            <a:ext cx="150876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418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9E8877-3A11-77A4-8F9E-BFF767940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7BDF58-46D7-5005-0EC9-BEC4918C1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"/>
            <a:ext cx="150876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2618E268-7179-6BE1-1278-33B17D737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B51D90-12CE-6A21-E66E-B966C4CD2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06" y="0"/>
            <a:ext cx="8237348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8869C90-A739-8558-68A2-C625F1E14C74}"/>
              </a:ext>
            </a:extLst>
          </p:cNvPr>
          <p:cNvSpPr txBox="1"/>
          <p:nvPr/>
        </p:nvSpPr>
        <p:spPr>
          <a:xfrm>
            <a:off x="6822440" y="48260"/>
            <a:ext cx="1584960" cy="716280"/>
          </a:xfrm>
          <a:prstGeom prst="rect">
            <a:avLst/>
          </a:prstGeom>
          <a:solidFill>
            <a:srgbClr val="F7F5FD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EB031D-4077-2F0A-5728-57F2BE55E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802" y="7534"/>
            <a:ext cx="1196598" cy="79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6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C922FEE-9366-8CBB-56CD-695CF67A1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0"/>
            <a:ext cx="7955280" cy="5143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2EB086-D393-535D-DC7A-1B5DD2174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802" y="7534"/>
            <a:ext cx="1196598" cy="7977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B93BFF2C-15E9-BB6B-A408-04FA61E1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509041-2DE8-B92F-181D-AE613AC5A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956"/>
            <a:ext cx="9144000" cy="50175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C5CAD3-142E-8F65-22D8-E41DCAE3F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502" y="213274"/>
            <a:ext cx="1196598" cy="79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08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>
          <a:extLst>
            <a:ext uri="{FF2B5EF4-FFF2-40B4-BE49-F238E27FC236}">
              <a16:creationId xmlns:a16="http://schemas.microsoft.com/office/drawing/2014/main" id="{70877C2C-BC07-D6EB-413C-AFA5B325B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1B2A3D-4E93-EFFD-807B-EBE8AFB8C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999666"/>
      </p:ext>
    </p:extLst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DF6FF"/>
      </a:lt1>
      <a:dk2>
        <a:srgbClr val="D6C2F5"/>
      </a:dk2>
      <a:lt2>
        <a:srgbClr val="8752B8"/>
      </a:lt2>
      <a:accent1>
        <a:srgbClr val="4B13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441</Words>
  <Application>Microsoft Office PowerPoint</Application>
  <PresentationFormat>On-screen Show (16:9)</PresentationFormat>
  <Paragraphs>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Albert Sans</vt:lpstr>
      <vt:lpstr>Alexandria</vt:lpstr>
      <vt:lpstr>Wingdings</vt:lpstr>
      <vt:lpstr>Arial</vt:lpstr>
      <vt:lpstr>Alexandria Medium</vt:lpstr>
      <vt:lpstr>Lead Funnel by Slidesgo</vt:lpstr>
      <vt:lpstr>Moniter-X Automated API Testing &amp; Monitoring Platform (Capstone Project Semester - 7)</vt:lpstr>
      <vt:lpstr>Abstract</vt:lpstr>
      <vt:lpstr>Introduction</vt:lpstr>
      <vt:lpstr>Problem Statement</vt:lpstr>
      <vt:lpstr>Objective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Nandik Dawar</dc:creator>
  <cp:lastModifiedBy>Nandik Dawar</cp:lastModifiedBy>
  <cp:revision>4</cp:revision>
  <dcterms:modified xsi:type="dcterms:W3CDTF">2026-08-17T18:16:47Z</dcterms:modified>
</cp:coreProperties>
</file>